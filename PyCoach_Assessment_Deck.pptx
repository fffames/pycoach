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492240"/>
            <a:ext cx="11338560" cy="0"/>
          </a:xfrm>
          <a:prstGeom prst="line">
            <a:avLst/>
          </a:prstGeom>
          <a:noFill/>
          <a:ln w="12700">
            <a:solidFill>
              <a:srgbClr val="DCE5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6539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40" kern="0" dirty="0">
                <a:solidFill>
                  <a:srgbClr val="587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PYCOACH  /  FDE PRACTICAL ASSESSMENT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0698480" y="656539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587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JUL 2026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F36B"/>
                </a:solidFill>
              </a:rPr>
              <a:t>PYCOACH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132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clicks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when you build it.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85800" y="352044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C7D0C9"/>
                </a:solidFill>
              </a:rPr>
              <a:t>Adaptive practice, immediate feedback, and an instructor-ready view of learning.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4617720"/>
            <a:ext cx="2057400" cy="310896"/>
          </a:xfrm>
          <a:prstGeom prst="roundRect">
            <a:avLst>
              <a:gd name="adj" fmla="val 47059"/>
            </a:avLst>
          </a:prstGeom>
          <a:solidFill>
            <a:srgbClr val="EF6A47"/>
          </a:solidFill>
          <a:ln w="12700">
            <a:solidFill>
              <a:srgbClr val="EF6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695444"/>
            <a:ext cx="2057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FFFFFF"/>
                </a:solidFill>
              </a:rPr>
              <a:t>FDE + AI RESEARCH ENGINEER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907792" y="461772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4695444"/>
            <a:ext cx="1417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17221B"/>
                </a:solidFill>
              </a:rPr>
              <a:t>DEPLOYABLE MVP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 rot="1200000">
            <a:off x="7863840" y="594360"/>
            <a:ext cx="3840480" cy="3840480"/>
          </a:xfrm>
          <a:prstGeom prst="arc">
            <a:avLst/>
          </a:prstGeom>
          <a:solidFill>
            <a:srgbClr val="17221B">
              <a:alpha val="0"/>
            </a:srgbClr>
          </a:solidFill>
          <a:ln w="38100">
            <a:solidFill>
              <a:srgbClr val="C7F36B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1828800"/>
            <a:ext cx="3840480" cy="3520440"/>
          </a:xfrm>
          <a:prstGeom prst="roundRect">
            <a:avLst>
              <a:gd name="adj" fmla="val 5195"/>
            </a:avLst>
          </a:prstGeom>
          <a:solidFill>
            <a:srgbClr val="20372A"/>
          </a:solidFill>
          <a:ln w="12700">
            <a:solidFill>
              <a:srgbClr val="3D5D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23317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DF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is_palindrome(text):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DF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clean = text.lower()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DF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clean == clean[::-1]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DF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print(is_palindrome(input()))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882128" y="4251960"/>
            <a:ext cx="3154680" cy="502920"/>
          </a:xfrm>
          <a:prstGeom prst="roundRect">
            <a:avLst>
              <a:gd name="adj" fmla="val 18182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4425696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21B"/>
                </a:solidFill>
              </a:rPr>
              <a:t>✓  All tests passed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95B3B"/>
                </a:solidFill>
              </a:rPr>
              <a:t>THE PRODUCT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21B"/>
                </a:solidFill>
              </a:rPr>
              <a:t>One loop. Two useful views.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PyCoach keeps the learner close to the work while giving instructors a clean signal of progress.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2057400"/>
            <a:ext cx="34290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2860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6A47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272491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21B"/>
                </a:solidFill>
              </a:rPr>
              <a:t>Attempt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0392" y="326440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Open a focused Python exercise and write code in Monaco.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43984" y="2057400"/>
            <a:ext cx="34290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2860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6A47"/>
                </a:solidFill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72584" y="272491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21B"/>
                </a:solidFill>
              </a:rPr>
              <a:t>Learn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72584" y="326440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Receive immediate grade, test feedback, and a mastery update.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66176" y="2057400"/>
            <a:ext cx="34290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94776" y="22860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6A47"/>
                </a:solidFill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94776" y="272491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21B"/>
                </a:solidFill>
              </a:rPr>
              <a:t>Adjust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494776" y="326440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Get the next exercise from the lowest estimated skill mastery.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" y="4434840"/>
            <a:ext cx="10972800" cy="1280160"/>
          </a:xfrm>
          <a:prstGeom prst="roundRect">
            <a:avLst>
              <a:gd name="adj" fmla="val 11429"/>
            </a:avLst>
          </a:prstGeom>
          <a:solidFill>
            <a:srgbClr val="17221B"/>
          </a:solidFill>
          <a:ln w="12700">
            <a:solidFill>
              <a:srgbClr val="1722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7091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C7F36B"/>
                </a:solidFill>
              </a:rPr>
              <a:t>STUDENT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57400" y="4663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Exercises · editor · feedback · mastery · recommendation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47091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EF6A47"/>
                </a:solidFill>
              </a:rPr>
              <a:t>INSTRUCTOR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726680" y="4663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Student · assignment · grade · submission time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95B3B"/>
                </a:solidFill>
              </a:rPr>
              <a:t>BUILT, NOT MOCKED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21B"/>
                </a:solidFill>
              </a:rPr>
              <a:t>The working learner experience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Verified in a browser at desktop and mobile breakpoints.</a:t>
            </a:r>
            <a:endParaRPr lang="en-US" sz="1200" dirty="0"/>
          </a:p>
        </p:txBody>
      </p:sp>
      <p:pic>
        <p:nvPicPr>
          <p:cNvPr id="5" name="Image 0" descr="/tmp/pycoach-stud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47088"/>
            <a:ext cx="704088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847088"/>
            <a:ext cx="2029968" cy="3950208"/>
          </a:xfrm>
          <a:prstGeom prst="roundRect">
            <a:avLst>
              <a:gd name="adj" fmla="val 8108"/>
            </a:avLst>
          </a:prstGeom>
          <a:solidFill>
            <a:srgbClr val="EAF0E5"/>
          </a:solidFill>
          <a:ln w="12700">
            <a:solidFill>
              <a:srgbClr val="DCE5D8"/>
            </a:solidFill>
            <a:prstDash val="solid"/>
          </a:ln>
        </p:spPr>
      </p:sp>
      <p:pic>
        <p:nvPicPr>
          <p:cNvPr id="7" name="Image 1" descr="/tmp/pycoach-mobile-fix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1847088"/>
            <a:ext cx="1700784" cy="36850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22960" y="5266944"/>
            <a:ext cx="804672" cy="310896"/>
          </a:xfrm>
          <a:prstGeom prst="roundRect">
            <a:avLst>
              <a:gd name="adj" fmla="val 47059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5344668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17221B"/>
                </a:solidFill>
              </a:rPr>
              <a:t>DESKTOP</a:t>
            </a:r>
            <a:endParaRPr lang="en-US" sz="750" dirty="0"/>
          </a:p>
        </p:txBody>
      </p:sp>
      <p:sp>
        <p:nvSpPr>
          <p:cNvPr id="10" name="Shape 6"/>
          <p:cNvSpPr/>
          <p:nvPr/>
        </p:nvSpPr>
        <p:spPr>
          <a:xfrm>
            <a:off x="8586216" y="5266944"/>
            <a:ext cx="749808" cy="310896"/>
          </a:xfrm>
          <a:prstGeom prst="roundRect">
            <a:avLst>
              <a:gd name="adj" fmla="val 47059"/>
            </a:avLst>
          </a:prstGeom>
          <a:solidFill>
            <a:srgbClr val="EF6A47"/>
          </a:solidFill>
          <a:ln w="12700">
            <a:solidFill>
              <a:srgbClr val="EF6A4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586216" y="5344668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FFFFFF"/>
                </a:solidFill>
              </a:rPr>
              <a:t>390 PX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0287000" y="2880360"/>
            <a:ext cx="1234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21B"/>
                </a:solidFill>
              </a:rPr>
              <a:t>Adaptive recommendation and visible mastery are on the same screen—no analytics scavenger hunt.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95B3B"/>
                </a:solidFill>
              </a:rPr>
              <a:t>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21B"/>
                </a:solidFill>
              </a:rPr>
              <a:t>A deliberately small deployment surface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One Next.js repository; clear boundaries around execution and persistence.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2834640" cy="150876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21B"/>
                </a:solidFill>
              </a:rPr>
              <a:t>Browser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9443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Next.js App Router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Monaco Editor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2148840"/>
            <a:ext cx="2834640" cy="1508760"/>
          </a:xfrm>
          <a:prstGeom prst="roundRect">
            <a:avLst>
              <a:gd name="adj" fmla="val 8485"/>
            </a:avLst>
          </a:prstGeom>
          <a:solidFill>
            <a:srgbClr val="EAF0E5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21B"/>
                </a:solidFill>
              </a:rPr>
              <a:t>Route handlers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480560" y="29443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Grade · mastery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recommendations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26680" y="2148840"/>
            <a:ext cx="2834640" cy="150876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21B"/>
                </a:solidFill>
              </a:rPr>
              <a:t>Supabase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955280" y="29443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Auth · PostgreSQL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RLS policies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703320" y="2679192"/>
            <a:ext cx="347472" cy="411480"/>
          </a:xfrm>
          <a:prstGeom prst="chevron">
            <a:avLst/>
          </a:prstGeom>
          <a:solidFill>
            <a:srgbClr val="EF6A47"/>
          </a:solidFill>
          <a:ln w="12700">
            <a:solidFill>
              <a:srgbClr val="EF6A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78040" y="2679192"/>
            <a:ext cx="347472" cy="411480"/>
          </a:xfrm>
          <a:prstGeom prst="chevron">
            <a:avLst/>
          </a:prstGeom>
          <a:solidFill>
            <a:srgbClr val="EF6A47"/>
          </a:solidFill>
          <a:ln w="12700">
            <a:solidFill>
              <a:srgbClr val="EF6A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50992" y="3657600"/>
            <a:ext cx="0" cy="621792"/>
          </a:xfrm>
          <a:prstGeom prst="line">
            <a:avLst/>
          </a:prstGeom>
          <a:noFill/>
          <a:ln w="25400">
            <a:solidFill>
              <a:srgbClr val="295B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1960" y="4270248"/>
            <a:ext cx="2834640" cy="1143000"/>
          </a:xfrm>
          <a:prstGeom prst="roundRect">
            <a:avLst>
              <a:gd name="adj" fmla="val 11200"/>
            </a:avLst>
          </a:prstGeom>
          <a:solidFill>
            <a:srgbClr val="17221B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526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Isolated Python runner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910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D2CB"/>
                </a:solidFill>
              </a:rPr>
              <a:t>E2B / Firecracker-class sandbox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229600" y="4718304"/>
            <a:ext cx="2606040" cy="310896"/>
          </a:xfrm>
          <a:prstGeom prst="roundRect">
            <a:avLst>
              <a:gd name="adj" fmla="val 47059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4796028"/>
            <a:ext cx="2606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17221B"/>
                </a:solidFill>
              </a:rPr>
              <a:t>SAFE FALLBACK WHEN UNCONFIGURED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95B3B"/>
                </a:solidFill>
              </a:rPr>
              <a:t>AUTO-GRADING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21B"/>
                </a:solidFill>
              </a:rPr>
              <a:t>Fast feedback without pretending code is safe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The deployed app never executes arbitrary Python inside the Next.js process.</a:t>
            </a:r>
            <a:endParaRPr lang="en-US" sz="1200" dirty="0"/>
          </a:p>
        </p:txBody>
      </p:sp>
      <p:pic>
        <p:nvPicPr>
          <p:cNvPr id="5" name="Image 0" descr="/tmp/pycoach-gra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28800"/>
            <a:ext cx="681228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874520"/>
            <a:ext cx="1234440" cy="310896"/>
          </a:xfrm>
          <a:prstGeom prst="roundRect">
            <a:avLst>
              <a:gd name="adj" fmla="val 47059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952244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17221B"/>
                </a:solidFill>
              </a:rPr>
              <a:t>LOCAL / DEMO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818120" y="22951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Structural fallback gives immediate, clearly labelled formative feedback.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18120" y="3099816"/>
            <a:ext cx="1234440" cy="310896"/>
          </a:xfrm>
          <a:prstGeom prst="roundRect">
            <a:avLst>
              <a:gd name="adj" fmla="val 47059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18120" y="3177540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17221B"/>
                </a:solidFill>
              </a:rPr>
              <a:t>DEPLOYED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818120" y="35204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07067"/>
                </a:solidFill>
              </a:rPr>
              <a:t>CODE_RUNNER_URL sends code + hidden tests to an isolated worker with timeout.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18120" y="4325112"/>
            <a:ext cx="1234440" cy="310896"/>
          </a:xfrm>
          <a:prstGeom prst="roundRect">
            <a:avLst>
              <a:gd name="adj" fmla="val 47059"/>
            </a:avLst>
          </a:prstGeom>
          <a:solidFill>
            <a:srgbClr val="EF6A47"/>
          </a:solidFill>
          <a:ln w="12700">
            <a:solidFill>
              <a:srgbClr val="EF6A4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4402836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70" kern="0" dirty="0">
                <a:solidFill>
                  <a:srgbClr val="FFFFFF"/>
                </a:solidFill>
              </a:rPr>
              <a:t>PRODUCTION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7818120" y="474573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607067"/>
                </a:solidFill>
              </a:rPr>
              <a:t>Ephemeral network-disabled sandbox; CPU, memory, process and output limits.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95B3B"/>
                </a:solidFill>
              </a:rPr>
              <a:t>PERSONALIZATION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21B"/>
                </a:solidFill>
              </a:rPr>
              <a:t>An interpretable model for sparse data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Bayesian Knowledge Tracing updates one latent mastery probability per learner and skill.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1901952"/>
            <a:ext cx="4572000" cy="3383280"/>
          </a:xfrm>
          <a:prstGeom prst="roundRect">
            <a:avLst>
              <a:gd name="adj" fmla="val 4865"/>
            </a:avLst>
          </a:prstGeom>
          <a:solidFill>
            <a:srgbClr val="17221B"/>
          </a:solidFill>
          <a:ln w="12700">
            <a:solidFill>
              <a:srgbClr val="1722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677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C7F36B"/>
                </a:solidFill>
              </a:rPr>
              <a:t>OBSERVE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</a:rPr>
              <a:t>correct / incorrect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273552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8E1DA"/>
                </a:solidFill>
              </a:rPr>
              <a:t>Bayes update with slip + guess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8E1DA"/>
                </a:solidFill>
              </a:rPr>
              <a:t>↓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8E1DA"/>
                </a:solidFill>
              </a:rPr>
              <a:t>learning transition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8E1DA"/>
                </a:solidFill>
              </a:rPr>
              <a:t>↓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8E1DA"/>
                </a:solidFill>
              </a:rPr>
              <a:t>new P(mastery)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23560" y="1965960"/>
            <a:ext cx="224028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06440" y="21488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5B3B"/>
                </a:solidFill>
              </a:rPr>
              <a:t>P(L₀)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7221B"/>
                </a:solidFill>
              </a:rPr>
              <a:t>0.30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83880" y="1965960"/>
            <a:ext cx="224028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1488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5B3B"/>
                </a:solidFill>
              </a:rPr>
              <a:t>P(T)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326880" y="207568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7221B"/>
                </a:solidFill>
              </a:rPr>
              <a:t>0.12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623560" y="3063240"/>
            <a:ext cx="224028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3246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5B3B"/>
                </a:solidFill>
              </a:rPr>
              <a:t>P(G)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31729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7221B"/>
                </a:solidFill>
              </a:rPr>
              <a:t>0.20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183880" y="3063240"/>
            <a:ext cx="224028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3246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5B3B"/>
                </a:solidFill>
              </a:rPr>
              <a:t>P(S)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31729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7221B"/>
                </a:solidFill>
              </a:rPr>
              <a:t>0.10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623560" y="4315968"/>
            <a:ext cx="4800600" cy="987552"/>
          </a:xfrm>
          <a:prstGeom prst="roundRect">
            <a:avLst>
              <a:gd name="adj" fmla="val 11111"/>
            </a:avLst>
          </a:prstGeom>
          <a:solidFill>
            <a:srgbClr val="EAF0E5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45445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EF6A47"/>
                </a:solidFill>
              </a:rPr>
              <a:t>RECOMMENDATION RULE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89788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21B"/>
                </a:solidFill>
              </a:rPr>
              <a:t>Serve an unfinished assignment for the lowest-mastery skill.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295B3B"/>
                </a:solidFill>
              </a:rPr>
              <a:t>EVIDENCE &amp; HANDOFF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21B"/>
                </a:solidFill>
              </a:rPr>
              <a:t>A tested MVP with honest edges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The implementation is ready for Supabase credentials, an isolated runner, and Vercel deployment.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192024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762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95B3B"/>
                </a:solidFill>
              </a:rPr>
              <a:t>5 / 5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04672" y="271576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607067"/>
                </a:solidFill>
              </a:rPr>
              <a:t>UNIT TESTS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383280" y="192024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1762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95B3B"/>
                </a:solidFill>
              </a:rPr>
              <a:t>17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66160" y="271576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607067"/>
                </a:solidFill>
              </a:rPr>
              <a:t>ROUTES + PAGES BUILT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144768" y="192024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21762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F6A47"/>
                </a:solidFill>
              </a:rPr>
              <a:t>0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327648" y="271576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607067"/>
                </a:solidFill>
              </a:rPr>
              <a:t>BROWSER CONSOLE ERRORS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8906256" y="192024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CE5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89136" y="21762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95B3B"/>
                </a:solidFill>
              </a:rPr>
              <a:t>390 px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089136" y="271576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607067"/>
                </a:solidFill>
              </a:rPr>
              <a:t>MOBILE QA PASSED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58368" y="3657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1B"/>
                </a:solidFill>
              </a:rPr>
              <a:t>Research basis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8368" y="416052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Corbett &amp; Anderson (1995)  ·  Classical Knowledge Tracing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Pardos &amp; Heffernan (2010)  ·  Individualized BKT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07067"/>
                </a:solidFill>
              </a:rPr>
              <a:t>Piech et al. (2015)  ·  Deep Knowledge Tracing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160" y="3657600"/>
            <a:ext cx="4160520" cy="1417320"/>
          </a:xfrm>
          <a:prstGeom prst="roundRect">
            <a:avLst>
              <a:gd name="adj" fmla="val 9677"/>
            </a:avLst>
          </a:prstGeom>
          <a:solidFill>
            <a:srgbClr val="C7F36B"/>
          </a:solidFill>
          <a:ln w="12700">
            <a:solidFill>
              <a:srgbClr val="C7F3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3931920"/>
            <a:ext cx="685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95B3B"/>
                </a:solidFill>
              </a:rPr>
              <a:t>NEXT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296912" y="427939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21B"/>
                </a:solidFill>
              </a:rPr>
              <a:t>Connect credentials → deploy → calibrate from real learning sequences.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58706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Beyond Education Group practical assessment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PyCoach — Adaptive Python Practice</dc:title>
  <dc:subject>FDE &amp; AI Research Engineer Practical Assessment</dc:subject>
  <dc:creator>PyCoach</dc:creator>
  <cp:lastModifiedBy>PyCoach</cp:lastModifiedBy>
  <cp:revision>1</cp:revision>
  <dcterms:created xsi:type="dcterms:W3CDTF">2026-06-30T18:06:58Z</dcterms:created>
  <dcterms:modified xsi:type="dcterms:W3CDTF">2026-06-30T18:06:58Z</dcterms:modified>
</cp:coreProperties>
</file>